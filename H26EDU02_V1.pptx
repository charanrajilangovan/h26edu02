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1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36B0-7531-90E9-98FD-79869C0BC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4A0B6-CB4C-7043-D778-D448FF62D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90906-DAAF-300E-9791-E3644A57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E5B3A-FB24-A4A3-F9A3-285360A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92367-E46D-F398-0376-F8854628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29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44AC-2AF8-EF3C-6B9D-ECB4DB92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886E8-6C6D-5E10-0548-A46CD8774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76CD-46A7-AE28-DE3A-158E5144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2038E-5657-E473-A1C5-25BE8FA6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9A59B-4314-AC20-740F-AE3A7F37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3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2A3B-7A5B-7781-90E0-ACC6DB70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9841F-AE6F-006D-9712-3942A092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2CEB-212F-1A36-B8A5-794844AC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C6D0-8D46-424B-733B-4F879809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88333-1B6E-4597-96FD-5BB60D81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4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B718-EEA3-537F-FCD2-EE9522A8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9E45-C0D4-3C0C-1A30-AC9072EEE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8857C-C9C8-B68A-AD2A-EA0B55C61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B652-9490-D931-DC7D-016A9958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0F292-5365-A762-B8EC-0499A81F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28BA8-1F29-7FA1-80AD-85B30C86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09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E208-95C5-9A4C-73FF-282F968C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CF67A-FBCD-DEF0-7D06-FE298A323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E82B0-2406-A212-6102-301D9A802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2922A-0D44-4C1E-19DC-19E6D949E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45CED-36BF-D2D3-F2A1-E55BB5D05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CE8CA-FCA0-4B09-160C-B1463E4A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70F50-61DF-D08B-118D-DE5AFE65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83C0C-AF4F-8855-068F-D658B19F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68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55E8-72D6-5520-E9A1-467C6632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ABCB-B496-FCE3-FFEA-6C79A944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9F0DD-1090-C33B-E430-A69B3943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8802D-5675-FE77-4C8E-3239A0E5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4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E81A3-372D-BE39-8DB2-E6D2E1F6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CB50F-0D5F-FA29-1A00-15FD26C5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071D3-C9F0-5801-502D-F7E3211B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4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80FA-5677-E75E-9A77-22E0162E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C5502-34B2-0338-A82F-EF7A7BAD5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51E19-9F6A-EB84-7BEA-65D587C69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A745-C5BE-B638-0D91-495C25C6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9DAC2-42BA-D4E3-985A-89A614B0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A2E77-CD91-F301-C7A8-115C821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8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C765-84B1-5D9D-B79A-5395D8E15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2BDF9-9424-E31A-DFD0-88190557F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9B41B-6FC3-5C3A-C1F3-FB330A7B4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37266-3BDC-0D9F-57AB-A3589B22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5AB7-3560-AC3C-1977-D083C709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D3269-266C-520A-4DBF-C79F8B23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F50B-581E-29CA-0545-A16E7792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6274-EE39-BCF4-F075-9C8D6E014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54FC-BF7D-5E89-588D-E830363E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EBE0-86AA-5C32-D628-A751C18E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85E84-7078-492A-0191-BA6F29E7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81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1C4F1-50BC-91EA-87B3-9FAB00583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84273-4687-D3CD-D3FF-D9CB131E1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F14CE-9A0C-BAE2-9ACD-0EF39733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AE74-34B4-B756-7986-72611F95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006ED-2850-FE57-1CAF-1793C247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91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9A467-66B1-BBCD-A888-389A38F9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6D14-A741-003C-A62B-44FFFED4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9BDA8-D593-5207-8A1F-450EB7C51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17FD7-2AAC-4BD2-A417-1CA005D87DC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D594C-8E26-482F-B7BE-956C3C7FC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52E1-C4BC-00B7-4694-33FE64CE3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47477-99F4-4F40-A014-C3B060106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3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DA5B-C550-2D08-60AD-0011C0886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016" y="440494"/>
            <a:ext cx="9144000" cy="1008505"/>
          </a:xfrm>
        </p:spPr>
        <p:txBody>
          <a:bodyPr/>
          <a:lstStyle/>
          <a:p>
            <a:r>
              <a:rPr lang="en-IN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PCB Doctor AI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6DEE6-6EE8-4A83-FC0E-C5EC6648C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79124"/>
            <a:ext cx="12191999" cy="733908"/>
          </a:xfrm>
        </p:spPr>
        <p:txBody>
          <a:bodyPr>
            <a:noAutofit/>
          </a:bodyPr>
          <a:lstStyle/>
          <a:p>
            <a:r>
              <a:rPr lang="en-IN" sz="28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Hand-Drawn Circuit Diagram Analysis and Schematic Generation</a:t>
            </a: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85A13-2F8E-34F4-0A02-4D0C96186879}"/>
              </a:ext>
            </a:extLst>
          </p:cNvPr>
          <p:cNvSpPr txBox="1"/>
          <p:nvPr/>
        </p:nvSpPr>
        <p:spPr>
          <a:xfrm>
            <a:off x="939383" y="3627105"/>
            <a:ext cx="392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787C2-BAFE-AAA5-50AE-6797AA1641F4}"/>
              </a:ext>
            </a:extLst>
          </p:cNvPr>
          <p:cNvSpPr txBox="1"/>
          <p:nvPr/>
        </p:nvSpPr>
        <p:spPr>
          <a:xfrm>
            <a:off x="939383" y="4348430"/>
            <a:ext cx="36875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 PRASATH J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 PRIYA J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CHARANRAJ I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1857E-954F-BFE8-B8AB-CEC708CCCBA8}"/>
              </a:ext>
            </a:extLst>
          </p:cNvPr>
          <p:cNvSpPr txBox="1"/>
          <p:nvPr/>
        </p:nvSpPr>
        <p:spPr>
          <a:xfrm>
            <a:off x="3559148" y="2228671"/>
            <a:ext cx="507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ID: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H26EDU02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Lead: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  PRASATH  J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COCKROACH </a:t>
            </a: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🪳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5508F-3A8C-69CB-FAD8-EA282FA10E54}"/>
              </a:ext>
            </a:extLst>
          </p:cNvPr>
          <p:cNvSpPr txBox="1"/>
          <p:nvPr/>
        </p:nvSpPr>
        <p:spPr>
          <a:xfrm>
            <a:off x="8319541" y="3627105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E6739-FEE8-64C3-147A-7B6A91914048}"/>
              </a:ext>
            </a:extLst>
          </p:cNvPr>
          <p:cNvSpPr txBox="1"/>
          <p:nvPr/>
        </p:nvSpPr>
        <p:spPr>
          <a:xfrm>
            <a:off x="8319541" y="4349019"/>
            <a:ext cx="3582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Ramakrishnan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52150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2CCB-2404-0D16-022E-32C98441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3DAD-D791-C5D8-8F60-4D96FA6AF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engineers often draw circuit diagrams on paper. Converting these hand-drawn circuits into digital schematics is a manual, time-consuming, and error-prone process. Existing software mainly supports digitally created circuits and does not effectively recognize hand-drawn symbols</a:t>
            </a:r>
            <a:r>
              <a:rPr lang="en-IN" sz="3200" dirty="0"/>
              <a:t>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642AB-2D73-CFF2-C787-E12A3F099F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electronic components from hand-drawn circuit diagrams.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components using a YOLO11 AI model.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detected components with labels.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user-friendly web application.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 the foundation for automatic schematic generation.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3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1173-E195-49B7-2D93-270715DC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047"/>
            <a:ext cx="10515600" cy="1325563"/>
          </a:xfrm>
        </p:spPr>
        <p:txBody>
          <a:bodyPr/>
          <a:lstStyle/>
          <a:p>
            <a:r>
              <a:rPr lang="en-IN" b="1" dirty="0"/>
              <a:t>Existing Solutions &amp; Identified Gaps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EDF9AE-FB50-E2B2-EE8A-DE7AD313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39253"/>
              </p:ext>
            </p:extLst>
          </p:nvPr>
        </p:nvGraphicFramePr>
        <p:xfrm>
          <a:off x="1049311" y="1588957"/>
          <a:ext cx="9953470" cy="301302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61745">
                  <a:extLst>
                    <a:ext uri="{9D8B030D-6E8A-4147-A177-3AD203B41FA5}">
                      <a16:colId xmlns:a16="http://schemas.microsoft.com/office/drawing/2014/main" val="411195937"/>
                    </a:ext>
                  </a:extLst>
                </a:gridCol>
                <a:gridCol w="4991725">
                  <a:extLst>
                    <a:ext uri="{9D8B030D-6E8A-4147-A177-3AD203B41FA5}">
                      <a16:colId xmlns:a16="http://schemas.microsoft.com/office/drawing/2014/main" val="4029013200"/>
                    </a:ext>
                  </a:extLst>
                </a:gridCol>
              </a:tblGrid>
              <a:tr h="59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032779"/>
                  </a:ext>
                </a:extLst>
              </a:tr>
              <a:tr h="61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OCR-based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performance on hand-drawn symbols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315119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 tools (Proteus, KiCad)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manual circuit drawing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566477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trained for circuit symbols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772111"/>
                  </a:ext>
                </a:extLst>
              </a:tr>
              <a:tr h="59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image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for complex sketches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3957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1718F8-BA3F-1671-BCC3-E22A861017EA}"/>
              </a:ext>
            </a:extLst>
          </p:cNvPr>
          <p:cNvSpPr txBox="1"/>
          <p:nvPr/>
        </p:nvSpPr>
        <p:spPr>
          <a:xfrm>
            <a:off x="1049311" y="5047391"/>
            <a:ext cx="79572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Identified Gap</a:t>
            </a:r>
          </a:p>
          <a:p>
            <a:endParaRPr lang="en-IN" sz="2400" b="1" dirty="0"/>
          </a:p>
          <a:p>
            <a:pPr lvl="0"/>
            <a:r>
              <a:rPr lang="en-IN" sz="2000" dirty="0"/>
              <a:t>No simple AI system accurately detects </a:t>
            </a:r>
            <a:r>
              <a:rPr lang="en-IN" sz="2000" b="1" dirty="0"/>
              <a:t>hand-drawn electronic symbols</a:t>
            </a:r>
            <a:r>
              <a:rPr lang="en-IN" sz="2000" dirty="0"/>
              <a:t> and assists in converting them into digital schematics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45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539F-3DAD-09E0-BDAB-7F8E96AB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Design(BLOCK DIAGRAM)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9BA5BD-88F0-6ECA-C625-964A2F43E94E}"/>
              </a:ext>
            </a:extLst>
          </p:cNvPr>
          <p:cNvSpPr/>
          <p:nvPr/>
        </p:nvSpPr>
        <p:spPr>
          <a:xfrm>
            <a:off x="540269" y="169068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Hand-Drawn Circuit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214553-328D-1474-5671-B8A714A56388}"/>
              </a:ext>
            </a:extLst>
          </p:cNvPr>
          <p:cNvSpPr/>
          <p:nvPr/>
        </p:nvSpPr>
        <p:spPr>
          <a:xfrm>
            <a:off x="4732521" y="169068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 Upload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2AD202-57AA-844F-EBC9-CE1AA69C73D1}"/>
              </a:ext>
            </a:extLst>
          </p:cNvPr>
          <p:cNvSpPr/>
          <p:nvPr/>
        </p:nvSpPr>
        <p:spPr>
          <a:xfrm>
            <a:off x="8715530" y="1690686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 Preprocessing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2D802-7A59-030B-FB3E-DB530D719D76}"/>
              </a:ext>
            </a:extLst>
          </p:cNvPr>
          <p:cNvCxnSpPr>
            <a:cxnSpLocks/>
          </p:cNvCxnSpPr>
          <p:nvPr/>
        </p:nvCxnSpPr>
        <p:spPr>
          <a:xfrm>
            <a:off x="3462728" y="226780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2C6A44-EFA8-2162-E4AD-62FB87A7BBF2}"/>
              </a:ext>
            </a:extLst>
          </p:cNvPr>
          <p:cNvCxnSpPr>
            <a:cxnSpLocks/>
          </p:cNvCxnSpPr>
          <p:nvPr/>
        </p:nvCxnSpPr>
        <p:spPr>
          <a:xfrm>
            <a:off x="7601262" y="2267806"/>
            <a:ext cx="943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38846DE-390F-508E-B1F1-B3CA55ECD2EE}"/>
              </a:ext>
            </a:extLst>
          </p:cNvPr>
          <p:cNvSpPr/>
          <p:nvPr/>
        </p:nvSpPr>
        <p:spPr>
          <a:xfrm>
            <a:off x="561192" y="3237873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Component Counting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28F5252-3847-EB9C-0F51-5A50BE9B6AE3}"/>
              </a:ext>
            </a:extLst>
          </p:cNvPr>
          <p:cNvSpPr/>
          <p:nvPr/>
        </p:nvSpPr>
        <p:spPr>
          <a:xfrm>
            <a:off x="4732521" y="3237874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Component Recognition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52E4E8-7A9F-E47B-7896-1BEF09A95058}"/>
              </a:ext>
            </a:extLst>
          </p:cNvPr>
          <p:cNvSpPr/>
          <p:nvPr/>
        </p:nvSpPr>
        <p:spPr>
          <a:xfrm>
            <a:off x="8715530" y="3237875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YOLO11 Detection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63320F-E981-B3D9-8ED8-402CF52766C5}"/>
              </a:ext>
            </a:extLst>
          </p:cNvPr>
          <p:cNvSpPr/>
          <p:nvPr/>
        </p:nvSpPr>
        <p:spPr>
          <a:xfrm>
            <a:off x="561192" y="4855793"/>
            <a:ext cx="2638270" cy="11542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Digital Schematic</a:t>
            </a:r>
          </a:p>
          <a:p>
            <a:pPr algn="ctr"/>
            <a:r>
              <a:rPr lang="en-IN" b="1" dirty="0"/>
              <a:t>OUTPUT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86DD1D-0897-2286-27AC-D9957775FDCF}"/>
              </a:ext>
            </a:extLst>
          </p:cNvPr>
          <p:cNvCxnSpPr>
            <a:cxnSpLocks/>
          </p:cNvCxnSpPr>
          <p:nvPr/>
        </p:nvCxnSpPr>
        <p:spPr>
          <a:xfrm>
            <a:off x="10034665" y="2953062"/>
            <a:ext cx="0" cy="28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DA85B9-0B76-870F-E12E-DE8E1DE78B4F}"/>
              </a:ext>
            </a:extLst>
          </p:cNvPr>
          <p:cNvCxnSpPr>
            <a:cxnSpLocks/>
          </p:cNvCxnSpPr>
          <p:nvPr/>
        </p:nvCxnSpPr>
        <p:spPr>
          <a:xfrm flipH="1">
            <a:off x="7601262" y="3787567"/>
            <a:ext cx="889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08417FA-2168-3FD3-046A-B1FF78CB886C}"/>
              </a:ext>
            </a:extLst>
          </p:cNvPr>
          <p:cNvCxnSpPr>
            <a:cxnSpLocks/>
          </p:cNvCxnSpPr>
          <p:nvPr/>
        </p:nvCxnSpPr>
        <p:spPr>
          <a:xfrm flipH="1">
            <a:off x="3533931" y="3807536"/>
            <a:ext cx="889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97B3FB6-01AF-B924-AF2B-C31580F1EC27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1880327" y="4392116"/>
            <a:ext cx="0" cy="463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517C697-DBAA-29BD-57FA-EAB5D1736273}"/>
              </a:ext>
            </a:extLst>
          </p:cNvPr>
          <p:cNvSpPr txBox="1"/>
          <p:nvPr/>
        </p:nvSpPr>
        <p:spPr>
          <a:xfrm>
            <a:off x="7179353" y="4392116"/>
            <a:ext cx="62646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 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HTML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47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A1E4-82E5-7AF9-7CAA-317F3E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B611D-5FD3-4A23-0711-B65F0E66F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06116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Development</a:t>
            </a:r>
          </a:p>
          <a:p>
            <a:pPr marL="0" indent="0">
              <a:buNone/>
            </a:pPr>
            <a:endParaRPr lang="en-IN" sz="3300" b="1" dirty="0"/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 completed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created and annotated (162 images)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 model trained </a:t>
            </a:r>
          </a:p>
          <a:p>
            <a:pPr marL="0" lv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developed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detection successfully tested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67655D-BEEE-51C6-C3A5-2D7F33DCB4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1558976"/>
            <a:ext cx="5942350" cy="4257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AA90C-340B-3377-5096-0E05120E754C}"/>
              </a:ext>
            </a:extLst>
          </p:cNvPr>
          <p:cNvSpPr txBox="1"/>
          <p:nvPr/>
        </p:nvSpPr>
        <p:spPr>
          <a:xfrm>
            <a:off x="838200" y="4886793"/>
            <a:ext cx="60935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Progress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schematic generation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connection analysis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model accuracy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E0931-8BE9-5164-2FC7-FD0928BD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69" y="3192905"/>
            <a:ext cx="2563318" cy="26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1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266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PCB Doctor AI</vt:lpstr>
      <vt:lpstr> Problem Statement &amp; Objectives  </vt:lpstr>
      <vt:lpstr>Existing Solutions &amp; Identified Gaps </vt:lpstr>
      <vt:lpstr>System Design(BLOCK DIAGRAM)</vt:lpstr>
      <vt:lpstr>Implementation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THEGALEESAN R</dc:creator>
  <cp:lastModifiedBy>THEGALEESAN R</cp:lastModifiedBy>
  <cp:revision>3</cp:revision>
  <dcterms:created xsi:type="dcterms:W3CDTF">2026-07-31T09:38:16Z</dcterms:created>
  <dcterms:modified xsi:type="dcterms:W3CDTF">2026-07-31T10:39:29Z</dcterms:modified>
</cp:coreProperties>
</file>