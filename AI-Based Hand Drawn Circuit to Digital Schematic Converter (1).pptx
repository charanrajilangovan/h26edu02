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5EFD-3940-6238-383E-D34197963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481488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en-IN" dirty="0"/>
              <a:t>AI-Based Hand Drawn Circuit to Digital Schematic Converter</a:t>
            </a:r>
            <a:br>
              <a:rPr lang="en-IN" dirty="0"/>
            </a:br>
            <a:r>
              <a:rPr lang="en-IN" sz="2700" b="1" dirty="0"/>
              <a:t>Team ID:</a:t>
            </a:r>
            <a:r>
              <a:rPr lang="en-IN" sz="2700" dirty="0"/>
              <a:t> H26EDU02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020B6D-6716-9029-F35C-C0F384BCB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3858608"/>
            <a:ext cx="2505456" cy="2478184"/>
          </a:xfrm>
        </p:spPr>
        <p:txBody>
          <a:bodyPr>
            <a:noAutofit/>
          </a:bodyPr>
          <a:lstStyle/>
          <a:p>
            <a:pPr algn="l"/>
            <a:r>
              <a:rPr lang="en-IN" sz="1600" b="1" dirty="0"/>
              <a:t>Team Leader:</a:t>
            </a:r>
            <a:r>
              <a:rPr lang="en-IN" sz="1600" dirty="0"/>
              <a:t> Guruprasath J</a:t>
            </a:r>
          </a:p>
          <a:p>
            <a:pPr algn="l"/>
            <a:endParaRPr lang="en-IN" sz="1600" dirty="0"/>
          </a:p>
          <a:p>
            <a:pPr algn="l"/>
            <a:r>
              <a:rPr lang="en-IN" sz="1600" b="1" dirty="0"/>
              <a:t>Team Members:</a:t>
            </a:r>
            <a:endParaRPr lang="en-IN" sz="1600" dirty="0"/>
          </a:p>
          <a:p>
            <a:pPr lvl="0" algn="l"/>
            <a:r>
              <a:rPr lang="en-IN" sz="1600" dirty="0"/>
              <a:t>Guruprasath J</a:t>
            </a:r>
          </a:p>
          <a:p>
            <a:pPr lvl="0" algn="l"/>
            <a:r>
              <a:rPr lang="en-IN" sz="1600" dirty="0"/>
              <a:t>Charan Raj I </a:t>
            </a:r>
          </a:p>
          <a:p>
            <a:pPr lvl="0" algn="l"/>
            <a:r>
              <a:rPr lang="en-IN" sz="1600" dirty="0"/>
              <a:t>Hari Priya J</a:t>
            </a:r>
          </a:p>
          <a:p>
            <a:pPr algn="l"/>
            <a:endParaRPr lang="en-IN" sz="16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EAE20AC-B5AF-ABEC-5CCE-3C8998D98BEE}"/>
              </a:ext>
            </a:extLst>
          </p:cNvPr>
          <p:cNvSpPr txBox="1">
            <a:spLocks/>
          </p:cNvSpPr>
          <p:nvPr/>
        </p:nvSpPr>
        <p:spPr>
          <a:xfrm>
            <a:off x="1600200" y="3209385"/>
            <a:ext cx="8991600" cy="36592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College Name:   K. Ramakrishnan College of Engineering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02485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06AFE-39F9-FED7-BDD1-B4CE33AE6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762952"/>
            <a:ext cx="7729728" cy="118872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7C0E-5C7F-A974-D249-037A7A538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218372"/>
            <a:ext cx="7729728" cy="93726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Existing tools require manual redrawing, making documentation and circuit analysis difficult. Converting hand-drawn circuit diagrams into digital schematics is a time-consuming and error-prone process.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7B27DC-38E3-EEED-1401-F79892254A03}"/>
              </a:ext>
            </a:extLst>
          </p:cNvPr>
          <p:cNvSpPr txBox="1">
            <a:spLocks/>
          </p:cNvSpPr>
          <p:nvPr/>
        </p:nvSpPr>
        <p:spPr bwMode="black">
          <a:xfrm>
            <a:off x="2231136" y="3581114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OBJECTIVE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88BD28-5B73-C058-8C81-C0934EAA7E00}"/>
              </a:ext>
            </a:extLst>
          </p:cNvPr>
          <p:cNvSpPr txBox="1">
            <a:spLocks/>
          </p:cNvSpPr>
          <p:nvPr/>
        </p:nvSpPr>
        <p:spPr>
          <a:xfrm>
            <a:off x="2231136" y="5195317"/>
            <a:ext cx="7729728" cy="937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F0D6D-7D3A-B772-2E1D-2EA5E59DDDB5}"/>
              </a:ext>
            </a:extLst>
          </p:cNvPr>
          <p:cNvSpPr txBox="1"/>
          <p:nvPr/>
        </p:nvSpPr>
        <p:spPr>
          <a:xfrm>
            <a:off x="2304288" y="5039869"/>
            <a:ext cx="76565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Detect electronic components from hand-drawn circuit images.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Detect wires and identify component connections.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Convert the detected circuit into a digital schematic automatically.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Reduce manual effort and improve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503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245A-4529-ECA6-E02F-115DB0AE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80060"/>
            <a:ext cx="7729728" cy="1188720"/>
          </a:xfrm>
        </p:spPr>
        <p:txBody>
          <a:bodyPr/>
          <a:lstStyle/>
          <a:p>
            <a:r>
              <a:rPr lang="en-IN" dirty="0"/>
              <a:t>BLOCK DIAGRAM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B765B7-44BB-FD57-54E3-B13B54C4F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4" y="2310382"/>
            <a:ext cx="7729730" cy="386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34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A176-A62E-1FC7-0F6B-E88DA34F3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541C4-42DF-2992-5519-DF1619788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1019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Component Detection</a:t>
            </a:r>
          </a:p>
          <a:p>
            <a:pPr lvl="0"/>
            <a:r>
              <a:rPr lang="en-IN" dirty="0"/>
              <a:t>YOLO8V</a:t>
            </a:r>
          </a:p>
          <a:p>
            <a:pPr lvl="0"/>
            <a:r>
              <a:rPr lang="en-IN" dirty="0"/>
              <a:t>Bounding Box Detection </a:t>
            </a:r>
          </a:p>
          <a:p>
            <a:pPr lvl="0"/>
            <a:r>
              <a:rPr lang="en-IN" dirty="0"/>
              <a:t>Confidence values</a:t>
            </a:r>
          </a:p>
          <a:p>
            <a:pPr marL="0" lv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Wire Detection</a:t>
            </a:r>
          </a:p>
          <a:p>
            <a:pPr lvl="0"/>
            <a:r>
              <a:rPr lang="en-IN" dirty="0"/>
              <a:t>Image Thresholding </a:t>
            </a:r>
          </a:p>
          <a:p>
            <a:pPr lvl="0"/>
            <a:r>
              <a:rPr lang="en-IN" dirty="0"/>
              <a:t>Skeletonization </a:t>
            </a:r>
          </a:p>
          <a:p>
            <a:pPr lvl="0"/>
            <a:r>
              <a:rPr lang="en-IN" dirty="0"/>
              <a:t>Wire Pixel Extraction </a:t>
            </a:r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69C739-0792-C824-7EF8-E77E867B7EEA}"/>
              </a:ext>
            </a:extLst>
          </p:cNvPr>
          <p:cNvSpPr txBox="1">
            <a:spLocks/>
          </p:cNvSpPr>
          <p:nvPr/>
        </p:nvSpPr>
        <p:spPr>
          <a:xfrm>
            <a:off x="7159752" y="2626495"/>
            <a:ext cx="2801112" cy="1296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 </a:t>
            </a:r>
            <a:r>
              <a:rPr lang="en-IN" b="1" dirty="0"/>
              <a:t>Schematic Generation</a:t>
            </a:r>
          </a:p>
          <a:p>
            <a:r>
              <a:rPr lang="en-IN" dirty="0"/>
              <a:t>Netlist Creation </a:t>
            </a:r>
          </a:p>
          <a:p>
            <a:r>
              <a:rPr lang="en-IN" dirty="0" err="1"/>
              <a:t>Schemdraw</a:t>
            </a:r>
            <a:r>
              <a:rPr lang="en-IN" dirty="0"/>
              <a:t> Rendering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73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FE477-084A-F4FD-430C-70B67CD1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73840-A762-0586-6518-57909D371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2834640" cy="312267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Programming Language</a:t>
            </a:r>
          </a:p>
          <a:p>
            <a:pPr lvl="0">
              <a:lnSpc>
                <a:spcPct val="120000"/>
              </a:lnSpc>
            </a:pPr>
            <a:r>
              <a:rPr lang="en-IN" dirty="0"/>
              <a:t>Python, HTML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AI Framework</a:t>
            </a:r>
          </a:p>
          <a:p>
            <a:pPr lvl="0">
              <a:lnSpc>
                <a:spcPct val="120000"/>
              </a:lnSpc>
            </a:pPr>
            <a:r>
              <a:rPr lang="en-IN" dirty="0" err="1"/>
              <a:t>Ultralytics</a:t>
            </a:r>
            <a:r>
              <a:rPr lang="en-IN" dirty="0"/>
              <a:t> YOLO8V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Computer Vision</a:t>
            </a:r>
          </a:p>
          <a:p>
            <a:pPr lvl="0">
              <a:lnSpc>
                <a:spcPct val="120000"/>
              </a:lnSpc>
            </a:pPr>
            <a:r>
              <a:rPr lang="en-IN" dirty="0"/>
              <a:t>OpenCV </a:t>
            </a:r>
          </a:p>
          <a:p>
            <a:pPr lvl="0">
              <a:lnSpc>
                <a:spcPct val="120000"/>
              </a:lnSpc>
            </a:pPr>
            <a:r>
              <a:rPr lang="en-IN" dirty="0"/>
              <a:t>Scikit-Image </a:t>
            </a:r>
          </a:p>
          <a:p>
            <a:pPr marL="0" indent="0">
              <a:lnSpc>
                <a:spcPct val="120000"/>
              </a:lnSpc>
              <a:buNone/>
            </a:pPr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F423BA-25F0-3BD8-7FA8-9443E69C6E3C}"/>
              </a:ext>
            </a:extLst>
          </p:cNvPr>
          <p:cNvSpPr txBox="1">
            <a:spLocks/>
          </p:cNvSpPr>
          <p:nvPr/>
        </p:nvSpPr>
        <p:spPr>
          <a:xfrm>
            <a:off x="6623304" y="2720339"/>
            <a:ext cx="3337560" cy="27843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/>
              <a:t>Schematic Drawing</a:t>
            </a:r>
          </a:p>
          <a:p>
            <a:r>
              <a:rPr lang="en-IN" dirty="0" err="1"/>
              <a:t>Schemdraw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User Interface</a:t>
            </a:r>
          </a:p>
          <a:p>
            <a:r>
              <a:rPr lang="en-IN" dirty="0" err="1"/>
              <a:t>Streamlit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Dataset</a:t>
            </a:r>
          </a:p>
          <a:p>
            <a:r>
              <a:rPr lang="en-IN" dirty="0" err="1"/>
              <a:t>Roboflow</a:t>
            </a:r>
            <a:r>
              <a:rPr lang="en-IN" dirty="0"/>
              <a:t> PCB Doctor Dataset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794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0B5A-029C-0DF7-213B-A631480AC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AD71A-2F81-27FC-F260-4C959ADD3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807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91675-EAD9-C15E-05AF-8E8D8E95A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98348"/>
            <a:ext cx="7729728" cy="1188720"/>
          </a:xfrm>
        </p:spPr>
        <p:txBody>
          <a:bodyPr/>
          <a:lstStyle/>
          <a:p>
            <a:r>
              <a:rPr lang="en-IN" dirty="0"/>
              <a:t>NOVELTY COMPARISION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491689-31D8-0F69-A479-F7B4DF3583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2302801"/>
              </p:ext>
            </p:extLst>
          </p:nvPr>
        </p:nvGraphicFramePr>
        <p:xfrm>
          <a:off x="2231136" y="2007108"/>
          <a:ext cx="4892040" cy="457837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277002419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3260621411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3096107904"/>
                    </a:ext>
                  </a:extLst>
                </a:gridCol>
              </a:tblGrid>
              <a:tr h="362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Feature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Existing Solutions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Our Project</a:t>
                      </a:r>
                    </a:p>
                  </a:txBody>
                  <a:tcPr marL="83837" marR="83837" marT="41919" marB="41919" anchor="ctr"/>
                </a:tc>
                <a:extLst>
                  <a:ext uri="{0D108BD9-81ED-4DB2-BD59-A6C34878D82A}">
                    <a16:rowId xmlns:a16="http://schemas.microsoft.com/office/drawing/2014/main" val="2960565717"/>
                  </a:ext>
                </a:extLst>
              </a:tr>
              <a:tr h="637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Hand-drawn circuit recognition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❌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</a:t>
                      </a:r>
                    </a:p>
                  </a:txBody>
                  <a:tcPr marL="83837" marR="83837" marT="41919" marB="41919" anchor="ctr"/>
                </a:tc>
                <a:extLst>
                  <a:ext uri="{0D108BD9-81ED-4DB2-BD59-A6C34878D82A}">
                    <a16:rowId xmlns:a16="http://schemas.microsoft.com/office/drawing/2014/main" val="2490104492"/>
                  </a:ext>
                </a:extLst>
              </a:tr>
              <a:tr h="362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AI component detection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Limited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</a:t>
                      </a:r>
                    </a:p>
                  </a:txBody>
                  <a:tcPr marL="83837" marR="83837" marT="41919" marB="41919" anchor="ctr"/>
                </a:tc>
                <a:extLst>
                  <a:ext uri="{0D108BD9-81ED-4DB2-BD59-A6C34878D82A}">
                    <a16:rowId xmlns:a16="http://schemas.microsoft.com/office/drawing/2014/main" val="3117995052"/>
                  </a:ext>
                </a:extLst>
              </a:tr>
              <a:tr h="637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Automatic wire detection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❌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</a:t>
                      </a:r>
                    </a:p>
                  </a:txBody>
                  <a:tcPr marL="83837" marR="83837" marT="41919" marB="41919" anchor="ctr"/>
                </a:tc>
                <a:extLst>
                  <a:ext uri="{0D108BD9-81ED-4DB2-BD59-A6C34878D82A}">
                    <a16:rowId xmlns:a16="http://schemas.microsoft.com/office/drawing/2014/main" val="2299077695"/>
                  </a:ext>
                </a:extLst>
              </a:tr>
              <a:tr h="637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Automatic graph generation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❌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</a:t>
                      </a:r>
                    </a:p>
                  </a:txBody>
                  <a:tcPr marL="83837" marR="83837" marT="41919" marB="41919" anchor="ctr"/>
                </a:tc>
                <a:extLst>
                  <a:ext uri="{0D108BD9-81ED-4DB2-BD59-A6C34878D82A}">
                    <a16:rowId xmlns:a16="http://schemas.microsoft.com/office/drawing/2014/main" val="77843442"/>
                  </a:ext>
                </a:extLst>
              </a:tr>
              <a:tr h="6371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Automatic digital schematic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Partial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✅</a:t>
                      </a:r>
                    </a:p>
                  </a:txBody>
                  <a:tcPr marL="83837" marR="83837" marT="41919" marB="41919" anchor="ctr"/>
                </a:tc>
                <a:extLst>
                  <a:ext uri="{0D108BD9-81ED-4DB2-BD59-A6C34878D82A}">
                    <a16:rowId xmlns:a16="http://schemas.microsoft.com/office/drawing/2014/main" val="3817116922"/>
                  </a:ext>
                </a:extLst>
              </a:tr>
              <a:tr h="362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Simple web interface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❌</a:t>
                      </a:r>
                    </a:p>
                  </a:txBody>
                  <a:tcPr marL="83837" marR="83837" marT="41919" marB="41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/>
                        <a:t>✅</a:t>
                      </a:r>
                    </a:p>
                  </a:txBody>
                  <a:tcPr marL="83837" marR="83837" marT="41919" marB="41919" anchor="ctr"/>
                </a:tc>
                <a:extLst>
                  <a:ext uri="{0D108BD9-81ED-4DB2-BD59-A6C34878D82A}">
                    <a16:rowId xmlns:a16="http://schemas.microsoft.com/office/drawing/2014/main" val="16961929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EF3B97D-A2E8-4A1C-9879-37F8EF2A504E}"/>
              </a:ext>
            </a:extLst>
          </p:cNvPr>
          <p:cNvSpPr txBox="1"/>
          <p:nvPr/>
        </p:nvSpPr>
        <p:spPr>
          <a:xfrm>
            <a:off x="7189470" y="2115604"/>
            <a:ext cx="27713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AI-powered hand-drawn circuit recognition.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Automatic component and wire extraction. </a:t>
            </a:r>
          </a:p>
          <a:p>
            <a:pPr lvl="0"/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Easy-to-use </a:t>
            </a:r>
            <a:r>
              <a:rPr lang="en-IN" dirty="0" err="1"/>
              <a:t>Streamlit</a:t>
            </a:r>
            <a:r>
              <a:rPr lang="en-IN" dirty="0"/>
              <a:t> interface.</a:t>
            </a:r>
          </a:p>
        </p:txBody>
      </p:sp>
    </p:spTree>
    <p:extLst>
      <p:ext uri="{BB962C8B-B14F-4D97-AF65-F5344CB8AC3E}">
        <p14:creationId xmlns:p14="http://schemas.microsoft.com/office/powerpoint/2010/main" val="254338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B9A0-41A7-6BC6-190A-C45DE669D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 &amp; Future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9E4B4-D487-F5B1-E929-0CB18B8C9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500884"/>
            <a:ext cx="7729728" cy="3899916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Summary</a:t>
            </a:r>
          </a:p>
          <a:p>
            <a:pPr lvl="0"/>
            <a:r>
              <a:rPr lang="en-IN" dirty="0"/>
              <a:t>Developed an AI-assisted system to convert hand-drawn circuits into digital schematics. </a:t>
            </a:r>
          </a:p>
          <a:p>
            <a:pPr lvl="0"/>
            <a:r>
              <a:rPr lang="en-IN" dirty="0"/>
              <a:t>Implemented component detection using YOLOv8. </a:t>
            </a:r>
          </a:p>
          <a:p>
            <a:pPr lvl="0"/>
            <a:r>
              <a:rPr lang="en-IN" dirty="0"/>
              <a:t>Extracted wire information through image processing and generated a prototype digital schematic. </a:t>
            </a:r>
          </a:p>
          <a:p>
            <a:pPr lvl="0"/>
            <a:endParaRPr lang="en-IN" dirty="0"/>
          </a:p>
          <a:p>
            <a:r>
              <a:rPr lang="en-IN" b="1" dirty="0"/>
              <a:t>Future Work</a:t>
            </a:r>
          </a:p>
          <a:p>
            <a:pPr lvl="0"/>
            <a:r>
              <a:rPr lang="en-IN" dirty="0"/>
              <a:t>Improve junction detection accuracy. </a:t>
            </a:r>
          </a:p>
          <a:p>
            <a:pPr lvl="0"/>
            <a:r>
              <a:rPr lang="en-IN" dirty="0"/>
              <a:t>Support more electronic components. </a:t>
            </a:r>
          </a:p>
          <a:p>
            <a:pPr lvl="0"/>
            <a:r>
              <a:rPr lang="en-IN" dirty="0"/>
              <a:t>Export to </a:t>
            </a:r>
            <a:r>
              <a:rPr lang="en-IN" dirty="0" err="1"/>
              <a:t>KiCad</a:t>
            </a:r>
            <a:r>
              <a:rPr lang="en-IN" dirty="0"/>
              <a:t> and LTspice. </a:t>
            </a:r>
          </a:p>
          <a:p>
            <a:pPr lvl="0"/>
            <a:r>
              <a:rPr lang="en-IN" dirty="0"/>
              <a:t>Automatic circuit simulation. </a:t>
            </a:r>
          </a:p>
          <a:p>
            <a:pPr lvl="0"/>
            <a:r>
              <a:rPr lang="en-IN" dirty="0"/>
              <a:t>Mobile application support.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455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C2F8-5190-5C60-8FCA-2FD7D76C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From Prototype to Product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B9DC8-B97F-61C8-AC36-24C77B291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Improve AI Accuracy</a:t>
            </a:r>
            <a:r>
              <a:rPr lang="en-IN" dirty="0"/>
              <a:t> – More components &amp; better wire detection </a:t>
            </a:r>
          </a:p>
          <a:p>
            <a:pPr lvl="0"/>
            <a:r>
              <a:rPr lang="en-IN" b="1" dirty="0"/>
              <a:t>Automated Schematic</a:t>
            </a:r>
            <a:r>
              <a:rPr lang="en-IN" dirty="0"/>
              <a:t> – Convert drawings into editable circuits </a:t>
            </a:r>
          </a:p>
          <a:p>
            <a:pPr lvl="0"/>
            <a:r>
              <a:rPr lang="en-IN" b="1" dirty="0"/>
              <a:t>Circuit Validation</a:t>
            </a:r>
            <a:r>
              <a:rPr lang="en-IN" dirty="0"/>
              <a:t> – Detect connection errors </a:t>
            </a:r>
          </a:p>
          <a:p>
            <a:pPr lvl="0"/>
            <a:r>
              <a:rPr lang="en-IN" b="1" dirty="0"/>
              <a:t>Export &amp; Simulation</a:t>
            </a:r>
            <a:r>
              <a:rPr lang="en-IN" dirty="0"/>
              <a:t> – </a:t>
            </a:r>
            <a:r>
              <a:rPr lang="en-IN" dirty="0" err="1"/>
              <a:t>KiCad</a:t>
            </a:r>
            <a:r>
              <a:rPr lang="en-IN" dirty="0"/>
              <a:t> / LTspice support </a:t>
            </a:r>
          </a:p>
          <a:p>
            <a:pPr lvl="0"/>
            <a:r>
              <a:rPr lang="en-IN" b="1"/>
              <a:t>Web &amp; Mobile App</a:t>
            </a:r>
            <a:r>
              <a:rPr lang="en-IN"/>
              <a:t> – Easy access anywhere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43235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144</TotalTime>
  <Words>314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Wingdings</vt:lpstr>
      <vt:lpstr>Parcel</vt:lpstr>
      <vt:lpstr>AI-Based Hand Drawn Circuit to Digital Schematic Converter Team ID: H26EDU02</vt:lpstr>
      <vt:lpstr>Problem statement</vt:lpstr>
      <vt:lpstr>BLOCK DIAGRAM</vt:lpstr>
      <vt:lpstr>ALGORITHMS</vt:lpstr>
      <vt:lpstr>Technology stack</vt:lpstr>
      <vt:lpstr>Results &amp; demo</vt:lpstr>
      <vt:lpstr>NOVELTY COMPARISION</vt:lpstr>
      <vt:lpstr>Summary &amp; Future Work</vt:lpstr>
      <vt:lpstr>From Prototype to Product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Guruprasath J</dc:creator>
  <cp:lastModifiedBy>Guruprasath J</cp:lastModifiedBy>
  <cp:revision>2</cp:revision>
  <dcterms:created xsi:type="dcterms:W3CDTF">2026-08-01T04:02:07Z</dcterms:created>
  <dcterms:modified xsi:type="dcterms:W3CDTF">2026-08-01T06:26:52Z</dcterms:modified>
</cp:coreProperties>
</file>